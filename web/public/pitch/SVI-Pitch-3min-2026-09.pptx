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r>
              <a:rPr sz="1000" b="0" i="0" u="none" strike="noStrike">
                <a:solidFill>
                  <a:srgbClr val="94A3B8"/>
                </a:solidFill>
                <a:latin typeface="Arial"/>
              </a:rPr>
              <a:t>A$ per month (Cohort shown as A$5,000 per year ÷ 12)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A$ per month (Cohort shown as A$5,000 per year ÷ 12)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</c:f>
              <c:multiLvlStrCache>
                <c:ptCount val="0"/>
                <c:lvl/>
              </c:multiLvlStrCache>
            </c:multiLvlStrRef>
          </c:cat>
          <c:val>
            <c:numRef>
              <c:f>Sheet1!$B$2:$B$1</c:f>
              <c:numCache>
                <c:formatCode>General</c:formatCode>
                <c:ptCount val="0"/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building the credit score for startups, for the people who back them.
Answers: C4, C10
Sources: web/src/lib/report-pipeline/dimension-owners.ts (8 dimensions) | .claude/goals/unicorn-masterplan.md (A$500K pre-seed)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Sydney Angels see about forty applicants a cycle — read at forty minutes each, that is a lost weekend and no shared score.
Answers: C1, C7
Sources: docs/plans/evaluator-traction-2026-09-10.md §2 (30–60 min per deck; 200 considered → 4 closed) | docs/plans/evaluator-traction-2026-09-10.md Appendix D (Sydney Angels ~40 applicants per cycle)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people who screen pay us; the founders they pass on get the reasons and a way back.
Answers: C2, C3, C8, C10
Sources: web/src/config/pricing/plans.csv (Scout / Firm / Program / Fund rows) | web/src/lib/credits.ts (A$3 Trusted Business Report) | web/src/lib/evaluations/feedback-letter.ts (reasons to founder, k ≥ 3) | web/src/app/apply/[slug]/page.tsx (program intake link)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add the startup, read the dossier and record a verdict; the founder gets the reasons, not a form letter.
Answers: C2, C8, C10
Sources: web/src/app/(app)/(founder)/workspace/evaluations/[evaluationId]/page.tsx (Investor Dossier) | web/src/lib/evaluations/assessments.ts (PASS / TRACK / PROCEED, founder share allow-list) | web/src/lib/evaluations/feedback-letter.ts (founder feedback letter, k ≥ 3) | web/src/app/apply/[slug]/page.tsx (program intake link)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chatbot gives you an opinion; we give you the same rubric every time, evidence weighted, audited, and calibrated against real rounds.
Answers: C5, C4
Sources: web/src/lib/svi-analysis.ts (SVI_VERSION 2.2.0; EVIDENCE_CONFIDENCE; capConfidence) | web/src/lib/verification/confidence-multiplier.ts (L0–L5 multiplier) | web/src/lib/audit/chain-verify.ts (nightly hash-chain verification) | web/content/reports/svi-backtest-latest.json (N 49; ρ round 0.762 [0.561–0.876]; ρ valuation 0.937 [0.812–0.975]) | 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dollars buys us a founder; three hundred and forty-nine a month is what a program pays to screen its whole intake.
Answers: C2, C3
Sources: web/src/config/pricing/plans.csv (Scout 7900 · Firm 14900 · Program 34900 · Fund 99900 · Intake 24900 · Cohort 25 500000/yr · Cohort 100 1500000/yr · Index API 29900) | docs/pricing-upgrade-plan-2026-07-16.md §v4 (base month-12 A$385,876 ARR ≈ 187 paying orgs; 130,080 A$3-report equivalent) | docs/ops/stripe-env-audit.md (prices minted 2026-09-17)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hundred and eighty-two startups scored, three thousand weekly snapshots, billing live — and the first accelerator pilots start this quarter.
Answers: C9, C6
Sources: web/content/reports/traction-snapshot.json (182 analyses; 3,302 snapshots — DB count 2026-09-18) | docs/plans/SOURCE-OF-TRUTH.md §G14 (S34–S40 live 2026-09-17; Stripe prices minted) | docs/plans/g14-investor-feedback-2026-09-16/01-gtm-evaluators-90d.md (5 pilots, cap) | web/src/app/(marketing)/team/page.tsx (founder; DBA sentence approved in SOT §5)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hundred thousand takes us from a working rubric to programs paying every month; one rubric, every deal; evaluators pay, founders get the feedback; a live index, not a static report.
Answers: C7, C2
Sources: .claude/goals/unicorn-masterplan.md (A$500K; buckets A$250K / A$140K / A$110K) | web/content/pitch/pitch-deck-v3.md slide 11 (month-12 milestones)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Value Index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 score Australian evaluators screen on — by BlockID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" y="2377440"/>
            <a:ext cx="2834640" cy="2834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1069848" y="2670048"/>
            <a:ext cx="2249424" cy="224942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1546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77240" y="39776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0" y="192024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0" y="2157984"/>
            <a:ext cx="0" cy="12801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0" y="2103120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0" y="239572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0" y="2633472"/>
            <a:ext cx="0" cy="12801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949440" y="2578608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0" y="287121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0" y="3108960"/>
            <a:ext cx="0" cy="12801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0" y="3054096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0" y="334670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0" y="3584448"/>
            <a:ext cx="0" cy="12801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3529584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0" y="3822192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0" y="4059936"/>
            <a:ext cx="0" cy="12801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0" y="4005072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0" y="429768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0" y="4535424"/>
            <a:ext cx="0" cy="12801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6949440" y="4480560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0" y="4773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0" y="5010912"/>
            <a:ext cx="0" cy="12801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0" y="4956048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14800" y="524865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0" y="5486400"/>
            <a:ext cx="0" cy="12801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6949440" y="5431536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Value Index by BlockID — Auschain PTY LTD | ACN 659 615 111 | Confidential</a:t>
            </a:r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1/8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Forty decks. One weekend. No rubric.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Screening is unpaid, inconsistent, and silent for the founders who lose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057400"/>
            <a:ext cx="3520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731520" y="388620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 decks per angel-group cycle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977640" y="2057400"/>
            <a:ext cx="3520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30–60 min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4251960" y="388620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read one deck properly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18120" y="1783080"/>
            <a:ext cx="3931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screener carries a different rubric in their head; scores are not comparable.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hundred deals get considered for every four that close.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founders who are passed on hear nothing and pitch the same deck again.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Value Index by BlockID — Auschain PTY LTD | ACN 659 615 111 | Confidential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2/8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Evaluators pay. Founders get the feedback.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two-sided loop that starts on the paying side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240280"/>
            <a:ext cx="1520190" cy="868680"/>
          </a:xfrm>
          <a:prstGeom prst="roundRect">
            <a:avLst>
              <a:gd name="adj" fmla="val 12632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40280"/>
            <a:ext cx="152019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977390" y="2674620"/>
            <a:ext cx="32004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297430" y="2240280"/>
            <a:ext cx="1520190" cy="868680"/>
          </a:xfrm>
          <a:prstGeom prst="roundRect">
            <a:avLst>
              <a:gd name="adj" fmla="val 12632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97430" y="2240280"/>
            <a:ext cx="152019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score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17620" y="2674620"/>
            <a:ext cx="32004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137660" y="2240280"/>
            <a:ext cx="1520190" cy="868680"/>
          </a:xfrm>
          <a:prstGeom prst="roundRect">
            <a:avLst>
              <a:gd name="adj" fmla="val 12632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37660" y="2240280"/>
            <a:ext cx="152019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A$3 report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57850" y="2674620"/>
            <a:ext cx="32004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977890" y="2240280"/>
            <a:ext cx="1520190" cy="868680"/>
          </a:xfrm>
          <a:prstGeom prst="roundRect">
            <a:avLst>
              <a:gd name="adj" fmla="val 12632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77890" y="2240280"/>
            <a:ext cx="152019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37985" y="3108960"/>
            <a:ext cx="0" cy="141732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977890" y="4526280"/>
            <a:ext cx="1520190" cy="868680"/>
          </a:xfrm>
          <a:prstGeom prst="roundRect">
            <a:avLst>
              <a:gd name="adj" fmla="val 12632"/>
            </a:avLst>
          </a:prstGeom>
          <a:solidFill>
            <a:srgbClr val="2563EB"/>
          </a:solidFill>
          <a:ln w="9525">
            <a:solidFill>
              <a:srgbClr val="1E40A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77890" y="4526280"/>
            <a:ext cx="152019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Evaluator (Scout / Firm / Program / Fund)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 flipH="1">
            <a:off x="5657850" y="4960620"/>
            <a:ext cx="32004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137660" y="4526280"/>
            <a:ext cx="1520190" cy="868680"/>
          </a:xfrm>
          <a:prstGeom prst="roundRect">
            <a:avLst>
              <a:gd name="adj" fmla="val 12632"/>
            </a:avLst>
          </a:prstGeom>
          <a:solidFill>
            <a:srgbClr val="2563EB"/>
          </a:solidFill>
          <a:ln w="9525">
            <a:solidFill>
              <a:srgbClr val="1E40A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37660" y="4526280"/>
            <a:ext cx="152019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/ TRACK / PROCEED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 flipH="1">
            <a:off x="3817620" y="4960620"/>
            <a:ext cx="32004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297430" y="4526280"/>
            <a:ext cx="1520190" cy="868680"/>
          </a:xfrm>
          <a:prstGeom prst="roundRect">
            <a:avLst>
              <a:gd name="adj" fmla="val 12632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97430" y="4526280"/>
            <a:ext cx="152019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Reasons to founder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 flipH="1">
            <a:off x="1977390" y="4960620"/>
            <a:ext cx="32004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57200" y="4526280"/>
            <a:ext cx="1520190" cy="868680"/>
          </a:xfrm>
          <a:prstGeom prst="roundRect">
            <a:avLst>
              <a:gd name="adj" fmla="val 12632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526280"/>
            <a:ext cx="152019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Re-score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 flipV="1">
            <a:off x="1217295" y="3108960"/>
            <a:ext cx="0" cy="141732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457200" y="5577840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loop: every verdict sends reasons back, and the founder can re-score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818120" y="1783080"/>
            <a:ext cx="3931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side is free: paste a deck, a URL or an ABN.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Paying side: angels, firms, programs and funds subscribe; programs share an intake link.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pass returns the reasons and a re-score path — rejection becomes feedback.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Value Index by BlockID — Auschain PTY LTD | ACN 659 615 111 | Confidential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3/8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startup. Read the dossier. Send verdict.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Investor Dossier — live today, one page per startup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7040880" cy="3794760"/>
          </a:xfrm>
          <a:prstGeom prst="roundRect">
            <a:avLst>
              <a:gd name="adj" fmla="val 2410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57200" y="1691640"/>
            <a:ext cx="7040880" cy="3794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[screenshot placeholder]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web/public/video-assets/10-investor-dossier.png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scripts/tour-capture.mjs on localhost:4001 (seeded evaluator)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5577840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Dossier — live at /workspace/evaluations/[id]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818120" y="1783080"/>
            <a:ext cx="3931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pastes a deck, a URL or an ABN — free score in about a minute.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Evaluator reads the dossier, sees mandate fit, records PASS / TRACK / PROCEED.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receives the dimension-level reasons and a path to re-score.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Value Index by BlockID — Auschain PTY LTD | ACN 659 615 111 | Confidential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4/8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prompt. A rubric with receipts.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rubric every time, evidence weighted, audited, and now calibrated against real rounds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406140" cy="1965960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30403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Rubric 8 × 13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0403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dimensions, 13 criteria, fixed weights — engine v2.2.0, versioned on every score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091940" y="1691640"/>
            <a:ext cx="3406140" cy="1965960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74820" y="1828800"/>
            <a:ext cx="30403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ladder 0.2 → 1.0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74820" y="2286000"/>
            <a:ext cx="30403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is capped by its source: self-declared, document, connected data, third-party verified; ABN verification L0–L5 weights the score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86200"/>
            <a:ext cx="3406140" cy="1965960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023360"/>
            <a:ext cx="30403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chain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4480560"/>
            <a:ext cx="30403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auditor agent flags unsupported claims; every event is hash-chained and re-verified nightly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91940" y="3886200"/>
            <a:ext cx="3406140" cy="1965960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74820" y="4023360"/>
            <a:ext cx="30403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74820" y="4480560"/>
            <a:ext cx="30403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Backtest on 49 Australian raises: rank correlation 0.76 with round size, 0.94 with valuation — published with confidence intervals and caveats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818120" y="1783080"/>
            <a:ext cx="3931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chatbot gives a different opinion tomorrow; the rubric gives the same score twice.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25,955 register signals (ABR, R&amp;D Tax Incentive) sit behind the evidence ladder.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is public at /methodology/calibration — N, correlation, intervals, caveats.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Value Index by BlockID — Auschain PTY LTD | ACN 659 615 111 | Confidential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5/8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A$3 is a lead. Programs are the revenue.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rung is live on Stripe today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91640"/>
          <a:ext cx="70408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303520"/>
            <a:ext cx="7040880" cy="640080"/>
          </a:xfrm>
          <a:prstGeom prst="roundRect">
            <a:avLst>
              <a:gd name="adj" fmla="val 14286"/>
            </a:avLst>
          </a:prstGeom>
          <a:solidFill>
            <a:srgbClr val="D1FAE5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530352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case month 12: A$386K ARR from ~180 paying organisations — the money of 130,000 A$3 reports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818120" y="1783080"/>
            <a:ext cx="3931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acquisition costs us cents; the A$3 report is the lead, not the revenue.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[object Object]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Programs buy cohorts by the year, A$5,000 to A$15,000; data buyers take the Index API.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Value Index by BlockID — Auschain PTY LTD | ACN 659 615 111 | Confidential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6/8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product, real depth, first pilots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a researcher who ships — the next seat is the seller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057400"/>
            <a:ext cx="3520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182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731520" y="388620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startups analysed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977640" y="2057400"/>
            <a:ext cx="3520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3,302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4251960" y="388620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score snapshots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074920"/>
            <a:ext cx="1623060" cy="502920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5074920"/>
            <a:ext cx="16230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Institute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63140" y="5074920"/>
            <a:ext cx="1623060" cy="502920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63140" y="5074920"/>
            <a:ext cx="16230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Spacecubed AI Fellowship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69080" y="5074920"/>
            <a:ext cx="1623060" cy="502920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69080" y="5074920"/>
            <a:ext cx="16230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Inception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75020" y="5074920"/>
            <a:ext cx="1623060" cy="502920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75020" y="5074920"/>
            <a:ext cx="16230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for Startups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818120" y="1783080"/>
            <a:ext cx="3931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Shipped: dossier, verdicts, feedback letters, intake links, evaluator API, Slack / Affinity, billing on every tier.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Pipeline: five accelerator pilots this quarter; [[LOI placeholder]].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grounded in the founder's doctoral research (DBA); commercial co-founder search is active.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Value Index by BlockID — Auschain PTY LTD | ACN 659 615 111 | Confidential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7/8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A$500K pre-seed. Three things to remember.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to the commercial co-founder and engineering, 28% evaluator sales, 22% trust and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247120" cy="1051560"/>
          </a:xfrm>
          <a:prstGeom prst="roundRect">
            <a:avLst>
              <a:gd name="adj" fmla="val 10435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91640"/>
            <a:ext cx="731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1783080"/>
            <a:ext cx="10149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11247120" cy="1051560"/>
          </a:xfrm>
          <a:prstGeom prst="roundRect">
            <a:avLst>
              <a:gd name="adj" fmla="val 10435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926080"/>
            <a:ext cx="731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371600" y="3017520"/>
            <a:ext cx="10149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4160520"/>
            <a:ext cx="11247120" cy="1051560"/>
          </a:xfrm>
          <a:prstGeom prst="roundRect">
            <a:avLst>
              <a:gd name="adj" fmla="val 10435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4160520"/>
            <a:ext cx="731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371600" y="4251960"/>
            <a:ext cx="10149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5532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Value Index by BlockID — Auschain PTY LTD | ACN 659 615 111 | Confidential</a:t>
            </a:r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8/8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Auschain PTY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Startup Value Index by BlockID — pre-seed deck</dc:title>
  <dc:subject>Startup Value Index — A$500K pre-seed pitch deck v3.1</dc:subject>
  <dc:creator>Do Van Long — Startup Value Index by BlockID</dc:creator>
  <cp:lastModifiedBy>Do Van Long — Startup Value Index by BlockID</cp:lastModifiedBy>
  <cp:revision>1</cp:revision>
  <dcterms:created xsi:type="dcterms:W3CDTF">2026-09-18T03:44:32Z</dcterms:created>
  <dcterms:modified xsi:type="dcterms:W3CDTF">2026-09-18T03:44:32Z</dcterms:modified>
</cp:coreProperties>
</file>