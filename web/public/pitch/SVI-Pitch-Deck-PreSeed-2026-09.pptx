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r>
              <a:rPr sz="1000" b="0" i="0" u="none" strike="noStrike">
                <a:solidFill>
                  <a:srgbClr val="94A3B8"/>
                </a:solidFill>
                <a:latin typeface="Arial"/>
              </a:rPr>
              <a:t>A$ per year (monthly list ×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A$ per year (monthly list × 12)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Free</c:v>
                  </c:pt>
                  <c:pt idx="1">
                    <c:v>A$3 report (one-off)</c:v>
                  </c:pt>
                  <c:pt idx="2">
                    <c:v>Scout A$79/mo</c:v>
                  </c:pt>
                  <c:pt idx="3">
                    <c:v>Firm A$149/mo</c:v>
                  </c:pt>
                  <c:pt idx="4">
                    <c:v>Program A$349/mo</c:v>
                  </c:pt>
                  <c:pt idx="5">
                    <c:v>Cohort 25 A$5K/yr</c:v>
                  </c:pt>
                  <c:pt idx="6">
                    <c:v>Fund A$999/mo</c:v>
                  </c:pt>
                  <c:pt idx="7">
                    <c:v>Cohort 100 A$15K/yr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3</c:v>
                </c:pt>
                <c:pt idx="2">
                  <c:v>948</c:v>
                </c:pt>
                <c:pt idx="3">
                  <c:v>1788</c:v>
                </c:pt>
                <c:pt idx="4">
                  <c:v>4188</c:v>
                </c:pt>
                <c:pt idx="5">
                  <c:v>5000</c:v>
                </c:pt>
                <c:pt idx="6">
                  <c:v>11988</c:v>
                </c:pt>
                <c:pt idx="7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r>
              <a:rPr sz="1000" b="0" i="0" u="none" strike="noStrike">
                <a:solidFill>
                  <a:srgbClr val="94A3B8"/>
                </a:solidFill>
                <a:latin typeface="Arial"/>
              </a:rPr>
              <a:t>organisations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organisations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Accelerators &amp; incubators</c:v>
                  </c:pt>
                  <c:pt idx="1">
                    <c:v>Early-stage VC funds</c:v>
                  </c:pt>
                  <c:pt idx="2">
                    <c:v>Investor organisations</c:v>
                  </c:pt>
                  <c:pt idx="3">
                    <c:v>Active angels</c:v>
                  </c:pt>
                  <c:pt idx="4">
                    <c:v>Accounting firms (ESIC / R&amp;D)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</c:v>
                </c:pt>
                <c:pt idx="1">
                  <c:v>18</c:v>
                </c:pt>
                <c:pt idx="2">
                  <c:v>135</c:v>
                </c:pt>
                <c:pt idx="3">
                  <c:v>1000</c:v>
                </c:pt>
                <c:pt idx="4">
                  <c:v>4345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4155"/>
                </a:solidFill>
                <a:latin typeface="Arial"/>
              </a:rPr>
              <a:t>A$500K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A$500K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Commercial co-founder + engineering</c:v>
                </c:pt>
                <c:pt idx="1">
                  <c:v>Evaluator GTM</c:v>
                </c:pt>
                <c:pt idx="2">
                  <c:v>Trust + data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250</c:v>
                </c:pt>
                <c:pt idx="1">
                  <c:v>140</c:v>
                </c:pt>
                <c:pt idx="2">
                  <c:v>110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building the credit score for startups, for the people who back them.
Answers: C4, C10
Sources: web/src/lib/report-pipeline/dimension-owners.ts (weights) | web/src/lib/svi-analysis.ts (SVI_BENCHMARKS stage 2 p50 = 115)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Sydney Angels see about forty applicants a cycle — read at forty minutes each, that's a lost weekend and no shared score.
Answers: C1, C7
Sources: docs/plans/evaluator-traction-2026-09-10.md §2 (Sydney Angels ~40 applicants × 6 cycles; 30–40 decks/day; 30–60 min per deck) | docs/plans/evaluator-traction-2026-09-10.md Appendix D (Sydney Angels 1,302 applications 2014–21)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people who screen pay us; the founders they pass on get the reasons and a way back.
Answers: C2, C3, C8, C10
Sources: web/src/config/pricing/plans.csv (Scout / Firm / Program rows) | web/src/lib/credits.ts (A$3 Trusted Business Report) | web/src/lib/evaluations/progress-radar.ts (weekly evaluator radar, re-score)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add the startup, read the dossier and record a verdict — the founder gets the reasons, not a form letter.
Answers: C8, C1
Sources: web/src/lib/evaluations/progress-radar.ts (evaluations rows, dossier, reports) | docs/plans/investor-clarity-2026-09-15/10-ba-investor-dossier-taxonomy.md (dossier blocks) | G13 S-D2 (assessment write path — founder-visible share "this quarter")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chatbot gives you an opinion; we give you the same rubric every time, with the evidence weighted and audited.
Answers: C5, C4
Sources: web/src/lib/svi-analysis.ts (SVI_VERSION 2.1.0; EVIDENCE_CONFIDENCE ~L79) | web/src/lib/report-pipeline/dimension-owners.ts (weights 20/18/15/12/12/10/8/5) | web/src/lib/evaluation-criteria.ts (13 criteria) | web/src/lib/audit/chain-verify.ts (hash chain verification) | web/src/lib/evaluations/progress-radar.ts (weekly Δ) | docs/plans/evaluator-traction-2026-09-10.md §4 (llm-auditor, ChatGPT variance evidence)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dollars buys us a founder; three hundred and forty-nine a month is what a program pays to screen its whole intake.
Answers: C2, C3
Sources: web/src/config/pricing/plans.csv (Scout 7900 / Firm 14900 / Program 34900 cents per month; Cohort Starter 500000 / Growth 1500000 cents annual) | plan §3.2 pricing ladder v4 (Fund A$999, Cohort 25 A$5,000/yr, Cohort 100 A$15,000/yr — planned, Stripe mint human-gated) | plan §3.3 ARR bottom-up (base M12 A$386K; 187 paying orgs) | plan §0 (COGS ≈ A$0.001 per report, DeepInfra)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counted the buyers one by one — roughly five and a half thousand Australian organisations screen startups for a living.
Answers: C9, C2
Sources: docs/plans/evaluator-traction-2026-09-10.md §2 + Appendix D (18 VC funds, 135 investor orgs, ~249 accelerators, ~1,000 Cut Through contributors, 4,345 accounting firms) | plan §2.2 slide 7 (≈A$12M ARR serviceable, ~5,700 orgs)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Crunchbase tells you what happened to other companies; we tell you what's true about this one, this week.
Answers: C4, C5
Sources: docs/plans/evaluator-traction-2026-09-10.md §2 (PitchBook US$15–20k/seat; Affinity US$2,000–2,700/seat/yr; AU desktop valuation A$2,985–3,990) | docs/plans/evaluator-traction-2026-09-10.md Appendix A (54-row competitor table)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hundred and eighty-two startups scored, three thousand weekly snapshots, and the first accelerator pilots start this month.
Answers: C9, C6
Sources: docs/plans/reviews/capacity-audit-2026-09-13.md (svi_analyses 182; svi_snapshots 3,302) | web/content/reports/ceo-daily-2026-09-16.md (Analyses 182) | plan §4 GTM (5 pilots cap, Sep–Nov; LOI names only with written consent — F-9) | memory feedback_accelerator_pitch_rules.md (confirmed credentials FI / Spacecubed AI Fellowship / NVIDIA Inception)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built the method in my doctoral research and the product with my own hands; the next seat is the person who sells it.
Answers: C6
Sources: docs/plans/evaluator-traction-2026-09-10.md §4a row 2 (11 C-Level agents + llm-auditor) and row 6 (DBA wording rule) | web/content/team-roster.json (agent roster) | memory feedback_accelerator_pitch_rules.md (commercial co-founder = active priority)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hundred thousand takes us from a working rubric to a six-figure annual run-rate, sold to programs.
Answers: C2, C9
Sources: plan §7 F-1 (use of funds 50/28/22) and F-2 (pre-money A$2.5–4.0M, SAFE cap A$3.5M, 20% discount) | plan §2.2 (M12 milestones; bear A$153K / base A$386K ARR; runway ≈ 18 months at ~A$27K/month) | plan §4 (D30/D60/D90 evaluator sign-ups 120/300/500; MRR A$1.5K/5K/10K) | [object Object] | .claude/goals/unicorn-masterplan.md (Pre-Seed A$500K row — use-of-funds table superseded by F-1)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rubric for every deal; evaluators pay and founders get the feedback; a live index, not a static report.
Answers: C7, C1
Sources: plan §2.1 (positioning + KM1–KM3) | web/src/lib/marketing/hero-variants.ts (I3 brand-forward line, speakability rules)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score Australian evaluators screen on — by BlockID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2377440"/>
            <a:ext cx="2834640" cy="2834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1069848" y="2670048"/>
            <a:ext cx="2249424" cy="2249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1546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92024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· Traction &amp; Revenue Evidence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0" y="2157984"/>
            <a:ext cx="283464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21031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0" y="239572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MPC · Market Pull &amp; Category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0" y="2633472"/>
            <a:ext cx="2551176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257860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0" y="28712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FTV · Founder &amp; Team 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3108960"/>
            <a:ext cx="212598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0" y="3054096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0" y="3346704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PTD · Product &amp; Tech Depth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584448"/>
            <a:ext cx="1700784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352958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0" y="38221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CGH · Capital &amp; Governance Health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0" y="4059936"/>
            <a:ext cx="1700784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400507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114800" y="429768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 · Investor Readiness Index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0" y="4535424"/>
            <a:ext cx="141732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0" y="44805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0" y="477316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LCO · Legal &amp; Compliance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0" y="5010912"/>
            <a:ext cx="1133856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0" y="495604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0" y="52486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· Strategic Vision &amp; Moat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0" y="5486400"/>
            <a:ext cx="70866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0" y="5431536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score across 8 dimensions, backed by evidence, updated weekly.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Australian angel groups, accelerators, funds and advisers.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Long, founder · Sydney · Pre-seed A$500K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1/12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Forty decks. One weekend. No rubric.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screening a cycle looks like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7040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applicants per Sydney Angels cycle, 30–60 minutes each to read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Sydney Angels: about 40 applicants a cycle, 30–60 minutes each to read.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screener uses a different gut rubric; scores don't compare.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who are passed on hear nothing — and pitch the same deck again.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2/12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Evaluators pay. Founders get the feedback.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two-sided loop that starts on the paying side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7739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9743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743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score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1762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13766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3766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A$3 report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5785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7789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789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37985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97789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2563EB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7789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(Scout / Firm / Program)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565785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13766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2563EB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3766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TRACK / PROCEED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381762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9743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9743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Reasons to founder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H="1">
            <a:off x="197739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5720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Re-score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1217295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57200" y="55778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every verdict sends reasons back, and the founder can re-score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Founder: free score → A$3 Trusted Business Report → joins the index.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Evaluator: Scout, Firm or Program subscription; verdict PASS / TRACK / PROCEED.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founders get the reasons and a re-score path back.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3/12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startup. Read the dossier. Send verdict.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 workspace — one startup, one dossier, one decision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7040880" cy="3794760"/>
          </a:xfrm>
          <a:prstGeom prst="roundRect">
            <a:avLst>
              <a:gd name="adj" fmla="val 2410"/>
            </a:avLst>
          </a:prstGeom>
          <a:solidFill>
            <a:srgbClr val="F1F5F9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704088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placeholder]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public/video-assets/10-investor-dossier.png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scripts/tour-capture.mjs on localhost:4001 (seeded evaluator)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55778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/workspace/evaluations/[id] — investor dossier (seeded evaluator)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startup by deck, URL or ABN — scored in minutes.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Dossier: score, 8 dimensions, evidence, red flags, questions to ask.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verdict; the founder sees the reasons this quarter.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4/12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prompt. A rubric with receipts.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same startup gets the same score twice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8 × 13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dimensions, 13 criteria, fixed weights 20/18/15/12/12/10/8/5 — engine v2.1.0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ladder 0.2 → 1.0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self-declared 0.2 · public URL 0.35 · document 0.5 · connected source 0.75 · transactions 0.9 · third-party verified 1.0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agent flags unsupported claims; every event is hash-chained and re-verified by cron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9194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482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482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re-snapshotted weekly; evaluators see movers, new evidence and deadlines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rubric v2.1.0: 8 dimensions, 13 criteria, fixed weights.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weighted 0.2 (self-declared) to 1.0 (third-party verified).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auditor agent checks claims; every event is hash-chained.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5/12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A$3 is a lead. Programs are the revenue.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ladder, priced per year (list price × 12)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7040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7040880" cy="640080"/>
          </a:xfrm>
          <a:prstGeom prst="roundRect">
            <a:avLst>
              <a:gd name="adj" fmla="val 14286"/>
            </a:avLst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3035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month 12: A$386K ARR from ~180 paying orgs = the money of 130,000 A$3 reports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A$3 report is the lead; it costs cents to produce.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subscriptions A$79 to A$999 a month; cohorts A$5K–15K a year.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month 12: A$386K ARR from ~180 paying organisations.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6/12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Australia, counted one evaluator at a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Bottom-up, Australia only — organisations that screen startups for a living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7040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7040880" cy="640080"/>
          </a:xfrm>
          <a:prstGeom prst="roundRect">
            <a:avLst>
              <a:gd name="adj" fmla="val 14286"/>
            </a:avLst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3035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≈A$12M ARR serviceable across ~5,700 organisations at list price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~249 accelerators and incubators; 18 early-stage VC funds; 135 investor organisations.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 active angels; 4,345 accounting firms touching ESIC and R&amp;D claims.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Serviceable: ~5,700 organisations ≈ A$12M ARR at list prices.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7/12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about deals vs judgement about a startup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existing tools sit — and the empty corner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874520"/>
            <a:ext cx="6309360" cy="3520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1874520"/>
            <a:ext cx="0" cy="352044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634740"/>
            <a:ext cx="63093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544068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about deals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60520" y="544068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 about one startup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weekly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93292" y="4126230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3292" y="412623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· PitchBook · Techboard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PitchBook US$15–20k/seat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4228" y="2366010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4228" y="236601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Affinity · Dealum · F6S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Affinity US$2–2.7k/seat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4126230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412623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Equidam · valuers · ChatGPT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valuers A$2,985–3,990 per report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78908" y="2189988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2563EB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8908" y="2189988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A$3 per startup, weekly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data (Crunchbase, PitchBook US$15–20k/seat) tells you about other companies.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CRMs (Affinity US$2–2.7k/seat) track relationships; valuers charge A$2,985+ per report.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the only live, evidence-weighted judgement about one startup.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8/12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product, real depth, first pilots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live today, and what starts this quarter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 analysed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77640" y="205740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3,302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251960" y="388620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snapshots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Institute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6314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6314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Spacecubed AI Fellowship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6908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Inception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7502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for Startups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Shipped: rubric, dossier, evaluator ladder with billing, weekly snapshots, audit chain.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Pipeline: 5 accelerator pilots Sep–Nov 2026; [[LOI placeholder]].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Programs: Founder Institute, Spacecubed AI Fellowship, NVIDIA Inception, Stripe for Startups.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9/12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 who ships, hiring the seller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today, and the one seat this raise fills first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108960" cy="2377440"/>
          </a:xfrm>
          <a:prstGeom prst="roundRect">
            <a:avLst>
              <a:gd name="adj" fmla="val 4615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 — Auschain PTY LTD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grounded in the founder's doctoral research (DBA) on startup valuation; built and shipped the product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specialist agents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6072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4048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76072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084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40480" y="3063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06324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3063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6324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60720" y="3063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306324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40480" y="3611880"/>
            <a:ext cx="374904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0" y="36118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agent (checks every report)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97680"/>
            <a:ext cx="7040880" cy="82296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— Commercial co-founder (evaluator sales), active search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 — founder; method grounded in doctoral research (DBA) on startup valuation.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product solo: 11 specialist agents plus an auditor.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commercial co-founder for evaluator sales — active search.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10/12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A$500K pre-seed: rubric to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 and the month-12 milestones the money buys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38404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480560" y="18745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co-founder + engineering — A$250K (50%)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480560" y="23317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GTM — A$140K (28%)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48056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+ data — A$110K (22%)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4937760"/>
            <a:ext cx="222504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4937760"/>
            <a:ext cx="2042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 hired; 5 pilots running; feedback letters 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65120" y="4937760"/>
            <a:ext cx="222504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56560" y="4937760"/>
            <a:ext cx="2042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links live; 300 evaluator sign-ups; A$5K MRR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273040" y="4937760"/>
            <a:ext cx="222504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64480" y="4937760"/>
            <a:ext cx="2042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Programs · 3 Cohort 25 · 2 Funds · 5 Intake links · 500 evaluator sign-ups · backtest published · A$10K MRR floor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 + engineering A$250K (50%) · Evaluator GTM A$140K (28%) · Trust + data A$110K (22%).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12: 10 Programs, 3 Cohort 25, 2 Funds, 5 Intake links, 500 evaluator sign-ups.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Pre-money A$2.5–4.0M; SAFE cap A$3.5M, 20% discount; ~18 months runway.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11/12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— by BlockID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rubric, every deal.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8 dimensions, 13 criteria, evidence-weighted.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92608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71600" y="301752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Evaluators pay. Founders get the feedback.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Programs, firms and angel groups buy; founders they pass on get the reasons, not silence.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16052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71600" y="425196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index, not a static report.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score moves weekly; the index gets more valuable with every startup scored.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 · admin@blockid.au · blockid.au/pricing?persona=investor · Auschain PTY LTD ACN 659 615 111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12/12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Auschain PTY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Startup Value Index by BlockID — pre-seed deck</dc:title>
  <dc:subject>Startup Value Index — A$500K pre-seed pitch deck v3.0</dc:subject>
  <dc:creator>Do Van Long — Startup Value Index by BlockID</dc:creator>
  <cp:lastModifiedBy>Do Van Long — Startup Value Index by BlockID</cp:lastModifiedBy>
  <cp:revision>1</cp:revision>
  <dcterms:created xsi:type="dcterms:W3CDTF">2026-09-16T14:22:12Z</dcterms:created>
  <dcterms:modified xsi:type="dcterms:W3CDTF">2026-09-16T14:22:12Z</dcterms:modified>
</cp:coreProperties>
</file>