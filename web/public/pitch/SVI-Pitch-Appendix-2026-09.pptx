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slide — the full weight and ownership table behind every score.
Answers: C1
Sources: web/src/lib/report-pipeline/dimension-owners.ts (DIMENSION_OWNERS — 8 entries, weights 20/18/15/12/12/10/8/5, sum 100) | web/src/lib/evaluation-criteria.ts (CRITERION_KEYS — 13 entries, weights 10/12/8/6/5/8/10/8/7/5/5/6/10, sum 100)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 of the twelve price a single verdict the way we do.
Answers: C3
Sources: docs/plans/evaluator-traction-2026-09-10.md Appendix A (competitor &amp; comparable table, web research 2026-09-10, FX A$1 ≈ US$0.65)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dollars in — forty-three cents of margin at the worst case, eighty-seven at the observed floor.
Answers: C6
Sources: web/src/lib/credits.ts:265-284 (enhanced_report_standard A$0.40-1.20/run, expected ~A$0.80/run; worst-case grant math ≥70% GM at the A$29/69/299 tiers) | web/content/pitch/pitch-deck-v3.md Slide 6 Provenance (COGS ~A$0.001/report, DeepInfra free-model chain) | Stripe Australia published pricing, domestic card rate 1.75% + A$0.30, applied to a A$3.00 charge | A New Tax System (Goods and Services Tax) Act 1999 — 10% GST, inc-GST ÷ 1.1 = ex-GST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case — three hundred eighty-six thousand at month twelve, seven hundred ninety-four thousand at month twenty-four.
Answers: C2
Sources: docs/pricing-upgrade-plan-2026-07-16.md §v4 "ARR bottom-up AU" table (plan §3.3, Appendix D of G12)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Forty-nine rounds, rank-only, and the caveats matter more than the headline number.
Answers: C6
Sources: web/content/reports/svi-backtest-latest.json (generated_at 2026-09-17T00:07:42.936Z, git_sha 4395dcf60, svi_version 2.1.0, claim rank_calibration_only)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five-hundred-thousand-dollar plan as Slide 11, without the animation.
Answers: C2, C9
Sources: web/content/pitch/pitch-deck-v3.md Slide 11 (use of funds, milestones, pre-money — plan §7 F-1/F-2, §2.2, §4; web/src/lib/au-comparable-raises.ts)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detail: 8 dimensions, 13 criteria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weight and owner agent behind the score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SVI dimensions — dimension-owners.ts (weights sum to 100)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47672"/>
          <a:ext cx="11247120" cy="1534999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1705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1705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Traction &amp; Revenue Evidence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05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Pull &amp; Category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705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FTV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Founder &amp; Team Value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05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PTD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&amp; Tech Depth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705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CGH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 &amp; Governance Health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05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Investor Readiness Index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705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LCO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Legal &amp; Compliance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05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Strategic Vision &amp; Moat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555823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evaluation criteria — evaluation-criteria.ts (weights sum to 100)</a:t>
            </a:r>
            <a:endParaRPr lang="en-US" sz="11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11855"/>
          <a:ext cx="11247120" cy="2387777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1705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dim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1705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Idea &amp; Innovation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05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Opportunity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705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Founder Profile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FTV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05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&amp; Git Repository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PTD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705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Website &amp; Digital Presence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PTD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05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Composition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FTV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705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Base &amp; Traction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05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Go-to-Market Strategy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705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Documents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05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Room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705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Structure &amp; Governance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FTV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05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Roadmap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705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&amp; Unit Economics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58704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independent rubrics scoring the same evidence — each sums to 100.</a:t>
            </a:r>
            <a:endParaRPr lang="en-US" sz="850" dirty="0"/>
          </a:p>
        </p:txBody>
      </p:sp>
      <p:sp>
        <p:nvSpPr>
          <p:cNvPr id="10" name="Text 5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Value Index by BlockID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1/6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comparables and their price anchors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representative price point each — not a like-for-like feature match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Comparable products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47672"/>
          <a:ext cx="11247120" cy="4178808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49040"/>
              </a:tblGrid>
              <a:tr h="321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anchor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21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 table / fund admin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US$2,988/yr entry tier (25 stakeholders free)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1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Equidam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Founder-side valuation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US$412 Advanced tier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1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Valutico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Advisor valuation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US$7,000/yr licence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1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Crunchbase Pro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/ search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US$99/mo (7-day trial)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1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CB Insights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/ Mosaic score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US$30,000/yr+ (10-day trial, no card)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1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PitchBook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/ comps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US$12,000/seat/yr+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1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Affinity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Deal-flow CRM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US$2,000/user/yr+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1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Harmonic.ai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sourcing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US$20,000/seat/yr+ (3-seat minimum)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1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Kruncher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diligence + CRM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US$499/mo (100 credits)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1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F6S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Accelerator management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basic; enterprise from €1,000/mo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1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Dealum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Angel / accelerator management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US$39/mo (10-day trial)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1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Techboard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 funding data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A$1,625/user/yr + GST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8704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price a single verdict the way the A$3 report does — Kruncher's per-analysis credit metering is the closest analogue.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Value Index by BlockID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2/6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economics: the A$3 report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margin at three AI-cost scenarios, ex-GST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A$3 Trust BizReport — waterfall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47672"/>
          <a:ext cx="11247120" cy="2353666"/>
        </p:xfrm>
        <a:graphic>
          <a:graphicData uri="http://schemas.openxmlformats.org/drawingml/2006/table">
            <a:tbl>
              <a:tblPr/>
              <a:tblGrid>
                <a:gridCol w="5623560"/>
                <a:gridCol w="5623560"/>
              </a:tblGrid>
              <a:tr h="3922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922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Charge (inc-GST)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A$3.00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2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GST component (÷1.1)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A$0.27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922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revenue, ex-GST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A$2.73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2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Stripe fee — AU domestic card, 1.75% + A$0.30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A$0.35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922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after Stripe, ex-GST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A$2.38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7449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COGS scenarios and resulting margin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630522"/>
          <a:ext cx="11247120" cy="156911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3922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COGS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margin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GM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922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Observed floor — DeepInfra free-model chain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A$0.001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A$2.38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2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— credits.ts blended run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A$0.80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A$1.58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922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Worst-case cap — enhanced_report_standard, paid fallback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A$1.20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A$1.18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58704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credits bind on the same enhanced_report_standard cost — worst-case grants hold ≥70% GM at full redemption; expected-cost GM runs ≈80%.</a:t>
            </a:r>
            <a:endParaRPr lang="en-US" sz="850" dirty="0"/>
          </a:p>
        </p:txBody>
      </p:sp>
      <p:sp>
        <p:nvSpPr>
          <p:cNvPr id="10" name="Text 5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Value Index by BlockID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3/6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bottom-up: bear, base, bull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SKUs, month 12 and month 24, units and dollars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ARR by SKU, AUD (plan §3.3, Appendix D of G12)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47672"/>
          <a:ext cx="11247120" cy="4178808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17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Universe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Bear M12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M12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M24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Bull M24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17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Scout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~1,200 angels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→ 56,880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 → 113,760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 → 237,000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 → 379,200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4,345 firms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→ 17,880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→ 44,700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→ 107,280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 → 214,560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7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~400 orgs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→ 41,880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→ 83,760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 → 167,520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→ 251,280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→ 11,988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→ 47,952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→ 95,904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→ 143,856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7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Cohort 25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→ 15,000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→ 40,000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→ 75,000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→ 125,000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Cohort 100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→ 30,000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→ 60,000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→ 90,000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7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Intake link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→ 5,976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→ 14,940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→ 29,880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→ 44,820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Index API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→ 3,588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→ 10,764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→ 21,528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→ 35,880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7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Recurring ARR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A$153K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A$386K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A$794K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A$1.28M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8704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Bear/Base counts are unit sales at month 12; Base/Bull at month 24 — same table as pitch-deck-v3.md Slide 6 and 11 sources.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Value Index by BlockID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4/6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Backtest v0: rank calibration only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number, not a valuation model — caveats verbatim below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numbers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47672"/>
          <a:ext cx="11247120" cy="2139696"/>
        </p:xfrm>
        <a:graphic>
          <a:graphicData uri="http://schemas.openxmlformats.org/drawingml/2006/table">
            <a:tbl>
              <a:tblPr/>
              <a:tblGrid>
                <a:gridCol w="5623560"/>
                <a:gridCol w="5623560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(scorable rows)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rho pooled, round size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0.762 (CI 0.5612-0.8757)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rho pooled, valuation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0.9366 (CI 0.8118-0.9747)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Rows with a next round known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Bootstrap resamples per CI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6052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SVI quartile — round size, AUD</a:t>
            </a:r>
            <a:endParaRPr lang="en-US" sz="11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416552"/>
          <a:ext cx="11247120" cy="178308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Quartile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SVI range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round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Q1, lowest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100-116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A$8,250,000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118-128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A$50,000,000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129-141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A$47,500,000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Q4, highest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142-156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A$147,500,000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58704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Caveats — survivorship, hand-curated profiles, small N, rank-only claim, source-table fidelity, mixed stage labels — quoted verbatim in Provenance below.</a:t>
            </a:r>
            <a:endParaRPr lang="en-US" sz="850" dirty="0"/>
          </a:p>
        </p:txBody>
      </p:sp>
      <p:sp>
        <p:nvSpPr>
          <p:cNvPr id="10" name="Text 5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Value Index by BlockID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5/6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funds, milestones, pre-money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numbers as deck v3 Slide 11, standalone reference form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 — A$500K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47672"/>
          <a:ext cx="11247120" cy="1128229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49040"/>
              </a:tblGrid>
              <a:tr h="282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Bucket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282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Commercial co-founder + engineering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A$250K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2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Evaluator GTM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A$140K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82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Trust + data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A$110K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149053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Month-12 milestones</a:t>
            </a:r>
            <a:endParaRPr lang="en-US" sz="1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05085"/>
          <a:ext cx="11247120" cy="1128229"/>
        </p:xfrm>
        <a:graphic>
          <a:graphicData uri="http://schemas.openxmlformats.org/drawingml/2006/table">
            <a:tbl>
              <a:tblPr/>
              <a:tblGrid>
                <a:gridCol w="5623560"/>
                <a:gridCol w="5623560"/>
              </a:tblGrid>
              <a:tr h="282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282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Co-founder hired; 5 pilots running; feedback letters live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2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Intake links live; 300 evaluator sign-ups; A$5K MRR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82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Programs, 3 Cohort 25, 2 Funds, 5 Intake links, 500 evaluator sign-ups, backtest published, A$10K MRR floor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4606466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terms</a:t>
            </a:r>
            <a:endParaRPr lang="en-US" sz="110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862498"/>
          <a:ext cx="11247120" cy="1410286"/>
        </p:xfrm>
        <a:graphic>
          <a:graphicData uri="http://schemas.openxmlformats.org/drawingml/2006/table">
            <a:tbl>
              <a:tblPr/>
              <a:tblGrid>
                <a:gridCol w="5623560"/>
                <a:gridCol w="5623560"/>
              </a:tblGrid>
              <a:tr h="282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282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Pre-money range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A$2.5-4.0M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2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 cap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A$3.5M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82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Discount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20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Runway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~18 months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58704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figures to deck v3 Slide 11 — repeated here as a standalone leave-behind page.</a:t>
            </a:r>
            <a:endParaRPr lang="en-US" sz="850" dirty="0"/>
          </a:p>
        </p:txBody>
      </p:sp>
      <p:sp>
        <p:nvSpPr>
          <p:cNvPr id="12" name="Text 6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Value Index by BlockID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6/6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Auschain PTY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Startup Value Index — Appendix by BlockID — pre-seed deck</dc:title>
  <dc:subject>Startup Value Index — Appendix — reference material — not part of the ask pitch deck vA1</dc:subject>
  <dc:creator>Do Van Long — Startup Value Index by BlockID</dc:creator>
  <cp:lastModifiedBy>Do Van Long — Startup Value Index by BlockID</cp:lastModifiedBy>
  <cp:revision>1</cp:revision>
  <dcterms:created xsi:type="dcterms:W3CDTF">2026-09-17T23:48:37Z</dcterms:created>
  <dcterms:modified xsi:type="dcterms:W3CDTF">2026-09-17T23:48:37Z</dcterms:modified>
</cp:coreProperties>
</file>